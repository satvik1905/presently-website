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9" r:id="rId4"/>
    <p:sldId id="258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7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283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0E5BA2-7172-4414-9E22-927D430EADB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B5FE00-270F-46D7-88EF-2BD50558D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716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8F18B-C35D-FC25-910F-CDFC47E31E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6819D2-5E63-5064-7443-5582D95C26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C77386-8647-A670-E437-50A6491C0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8506C-1984-4165-BF36-DC4D73E3127E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5DFBCC-CADC-1264-454C-1F793B2D4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1616D-6FED-ECDB-F499-6641E9C98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B9F03-84D4-4DB4-90BE-D5744455D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620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E1AF1-2317-3423-36C4-68461A46A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E0105-1AB6-C5CF-F4A0-A875172F66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EE212-8673-8FED-8B1C-48DD762C9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9591A-09FA-411C-9674-AD10EF079079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6EAF7-B7A1-0533-731E-B59EEDDD6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68EAA2-7A34-3278-CFEC-63578BAEF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B9F03-84D4-4DB4-90BE-D5744455D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90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E0818-381A-3F87-CFEC-1CC940938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2F3E9A-0211-ED75-C3DF-86A20F51AD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1C6F64-2508-F225-8C1B-0A7437A4E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8FF01-5DC1-4EBC-9EF9-E287EBA80AD7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50F4A2-2A6A-C169-D9A5-64C25BD3E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6E7FFF-9CBE-C165-1926-9B621771C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B9F03-84D4-4DB4-90BE-D5744455D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687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9D636-7651-1771-4613-F2EB05479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FD5E1-2658-9621-B211-B377647D69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BD0937-D672-5DD5-D75A-C13480FFE5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734CF-46A0-9192-55A6-F83D76829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4E079-1396-4999-9080-DDC8D27E1374}" type="datetime1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8EB43F-7049-AA73-69E2-3E7523661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71E54D-4345-CBDD-E33E-BA7C59D20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B9F03-84D4-4DB4-90BE-D5744455D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644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11895-40D5-79C3-790D-45A3776CB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14DA1C-EA79-2202-FD11-9502AA8F2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9D10FF-B981-56FB-E45C-6297EC5073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9AE567-0240-495F-108E-32FD964245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0284A0-348D-0B71-CB4F-12F605ACBA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9D552A-07B2-E16E-4CCD-BD7D1B654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1CDD6-279E-491A-BBB3-B099082075AC}" type="datetime1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925ED0-B1BA-0230-A066-FA73DEA1A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A4776C-9398-8EF0-C966-C2AD1E924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B9F03-84D4-4DB4-90BE-D5744455D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950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0C78F-C7B8-0EA0-5E18-CD9B04DBE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5E826A-ED31-571D-6621-40AE57D91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B5FEF-0A88-48AD-B3BA-4511676F4AC1}" type="datetime1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CFAAEC-209A-36C1-123A-35E8C1B40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F03775-519E-74A8-E812-C24AE99DF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B9F03-84D4-4DB4-90BE-D5744455D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752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FB11B3-E4AC-D16B-3C48-A25A71D2A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25513-F413-458D-BD24-61F64DFC60D0}" type="datetime1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670926-A6DE-A949-7699-715A63CC0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1F447F-E1B5-6763-AC5B-565F70810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B9F03-84D4-4DB4-90BE-D5744455D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426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07B5D-32CF-6EBE-55B4-D330D3C5C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892EEE-8F9B-936E-0CF5-005BB5E8CB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A213EB-A36F-9B4C-862B-81F8006513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DB1C9C-E27D-D7DB-4BB3-04BAD44C9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5DB13-FD83-4873-A940-4C3567F47F27}" type="datetime1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E5AEEC-BBAE-3127-EE31-E9390E93C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9658AE-C927-855D-8D84-39E546216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B9F03-84D4-4DB4-90BE-D5744455D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955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2CE98-AAC4-E4BE-D0EA-5ECCBDCA3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170CFE-D23F-4F61-6F73-37CE5D6D75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938401-4A44-F84B-C401-A75B951F7F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80FC45-FA38-BD14-AD02-2C8D85BFD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D8C87-89F1-4B17-B45B-570D15E33A84}" type="datetime1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59F16E-7597-B413-5207-7ECF56370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907857-4AB4-55E5-B620-DB0B7BDE1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B9F03-84D4-4DB4-90BE-D5744455D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215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F014D-278D-C2B1-5BB0-359382972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F1FA9F-8CC6-1519-7E41-826D7E75CE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E5C65F-AD00-04BC-67D8-85A457AC5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6297A-4E76-405D-A400-1276309A508D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4410F0-210E-F0B3-600B-1E610EBE2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4D7A1-C454-E7BE-27F5-5F1461893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B9F03-84D4-4DB4-90BE-D5744455D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442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2B2321-0234-966F-DA6B-C92C617E54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B78F06-211F-36C8-C573-C562D44C89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04885E-57D3-207C-6508-627571789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177D9-AC3D-4FDB-9A74-53901CB01488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EA4EA-D90D-EC22-67EB-08AE47AFE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F7B7BD-02C0-0CBC-EB9C-31F2E6A47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B9F03-84D4-4DB4-90BE-D5744455D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420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5CE562-E724-1B31-2D2E-34EC36635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03138C-2F5E-E88E-D74A-7D2EE0F8BD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9733C7-1604-500E-82E5-AB57FD2AE8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624D57-C39B-4F94-9EFA-B9E4F071935F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50117-A573-713B-247A-506994EB70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EDDD6-E39E-C9BC-CA55-0BF4EC0469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CB9F03-84D4-4DB4-90BE-D5744455D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841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62D44EE-C852-4460-B8B5-C4F2BC205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AAA379-253F-B194-E716-CF18AD2B48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4716" y="739978"/>
            <a:ext cx="5334930" cy="3004145"/>
          </a:xfrm>
        </p:spPr>
        <p:txBody>
          <a:bodyPr>
            <a:normAutofit/>
          </a:bodyPr>
          <a:lstStyle/>
          <a:p>
            <a:r>
              <a:rPr lang="en-US" dirty="0"/>
              <a:t>Monthly Uploading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1299B5-A637-ACFC-0858-5E7906C396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82188" y="4369164"/>
            <a:ext cx="5334931" cy="2189214"/>
          </a:xfrm>
        </p:spPr>
        <p:txBody>
          <a:bodyPr>
            <a:normAutofit/>
          </a:bodyPr>
          <a:lstStyle/>
          <a:p>
            <a:r>
              <a:rPr lang="en-US" dirty="0"/>
              <a:t>What Happens monthly after the Initial Reports (Report B and Student Profiles) have been submitted?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58970D8-8D1D-4B5C-894B-E871CC865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1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227E5B6-9132-43CA-B503-37A18562A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349052" y="0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3C2051E-A88D-48E5-BACF-AAED17892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16245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821A508-2985-4905-874A-527429BAA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D2929CB1-0E3C-4B2D-ADC5-0154FB33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697761" y="5717906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8A55FD-0BB8-164A-BEC6-275D8F14B3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3"/>
          <a:stretch>
            <a:fillRect/>
          </a:stretch>
        </p:blipFill>
        <p:spPr>
          <a:xfrm>
            <a:off x="631840" y="598720"/>
            <a:ext cx="5178249" cy="5178249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</p:spPr>
      </p:pic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5F2F0C84-BE8C-4DC2-A6D3-30349A801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20513" y="6258756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F4D8D7-C1D4-906F-967A-579AA8AA3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B9F03-84D4-4DB4-90BE-D5744455D77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501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FBE68-A306-6E68-321F-A50E07E47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6CA7ED-5AB6-AF74-3E3B-70D2087608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0794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When first setting up the Presently Portal you were asked to upload Report B and Student Profile. This is a </a:t>
            </a:r>
            <a:r>
              <a:rPr lang="en-US" b="1" dirty="0"/>
              <a:t>one time</a:t>
            </a:r>
            <a:r>
              <a:rPr lang="en-US" dirty="0"/>
              <a:t> upload.</a:t>
            </a:r>
          </a:p>
          <a:p>
            <a:endParaRPr lang="en-US" dirty="0"/>
          </a:p>
          <a:p>
            <a:r>
              <a:rPr lang="en-US" dirty="0"/>
              <a:t>Once this step has taken place, it is now a case of keeping the list of students current.</a:t>
            </a:r>
          </a:p>
          <a:p>
            <a:endParaRPr lang="en-US" dirty="0"/>
          </a:p>
          <a:p>
            <a:r>
              <a:rPr lang="en-US" dirty="0"/>
              <a:t>To do that we just want the new enrollments added. Old students will automatically become inactivated after 60 days.</a:t>
            </a:r>
          </a:p>
          <a:p>
            <a:endParaRPr lang="en-US" dirty="0"/>
          </a:p>
          <a:p>
            <a:r>
              <a:rPr lang="en-US" dirty="0"/>
              <a:t>The easiest way to add new students is via the </a:t>
            </a:r>
            <a:r>
              <a:rPr lang="en-US" b="1" dirty="0"/>
              <a:t>e-</a:t>
            </a:r>
            <a:r>
              <a:rPr lang="en-US" b="1" dirty="0" err="1"/>
              <a:t>enrollement</a:t>
            </a:r>
            <a:r>
              <a:rPr lang="en-US" b="1" dirty="0"/>
              <a:t> </a:t>
            </a:r>
            <a:r>
              <a:rPr lang="en-US" dirty="0"/>
              <a:t>form.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5B49F-0329-0BB3-3D1D-EFEB0D9C9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B9F03-84D4-4DB4-90BE-D5744455D77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27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9D882-0FE8-E235-FD51-6D71ABFDC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eEnrollment document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8FEA9E-7797-ECA0-F988-39FD2BAF5CB0}"/>
              </a:ext>
            </a:extLst>
          </p:cNvPr>
          <p:cNvSpPr txBox="1"/>
          <p:nvPr/>
        </p:nvSpPr>
        <p:spPr>
          <a:xfrm>
            <a:off x="4049485" y="2006081"/>
            <a:ext cx="1101012" cy="1586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58EAF2-AA55-E859-78FF-CE9C5B46F380}"/>
              </a:ext>
            </a:extLst>
          </p:cNvPr>
          <p:cNvSpPr txBox="1"/>
          <p:nvPr/>
        </p:nvSpPr>
        <p:spPr>
          <a:xfrm>
            <a:off x="4049485" y="2839616"/>
            <a:ext cx="1101012" cy="1586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2BAD17-2E1F-4CE8-C217-9D43EA77AB67}"/>
              </a:ext>
            </a:extLst>
          </p:cNvPr>
          <p:cNvSpPr txBox="1"/>
          <p:nvPr/>
        </p:nvSpPr>
        <p:spPr>
          <a:xfrm>
            <a:off x="4049485" y="2680995"/>
            <a:ext cx="1101012" cy="1586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604BA8-774B-FD03-2352-982825783DD0}"/>
              </a:ext>
            </a:extLst>
          </p:cNvPr>
          <p:cNvSpPr txBox="1"/>
          <p:nvPr/>
        </p:nvSpPr>
        <p:spPr>
          <a:xfrm>
            <a:off x="4049485" y="3355909"/>
            <a:ext cx="942393" cy="32190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83AE03-B3A2-D170-5B16-867F7C2087DA}"/>
              </a:ext>
            </a:extLst>
          </p:cNvPr>
          <p:cNvSpPr txBox="1"/>
          <p:nvPr/>
        </p:nvSpPr>
        <p:spPr>
          <a:xfrm>
            <a:off x="4049484" y="4510829"/>
            <a:ext cx="2369977" cy="120883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7CADD2-3035-F385-08F8-73ADB38569E9}"/>
              </a:ext>
            </a:extLst>
          </p:cNvPr>
          <p:cNvSpPr txBox="1"/>
          <p:nvPr/>
        </p:nvSpPr>
        <p:spPr>
          <a:xfrm>
            <a:off x="4049483" y="4128273"/>
            <a:ext cx="1940769" cy="1586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24" name="Content Placeholder 23">
            <a:extLst>
              <a:ext uri="{FF2B5EF4-FFF2-40B4-BE49-F238E27FC236}">
                <a16:creationId xmlns:a16="http://schemas.microsoft.com/office/drawing/2014/main" id="{7D3825D1-CA91-2951-2B8A-BC7691EDF0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58028" y="1253331"/>
            <a:ext cx="4307068" cy="5358484"/>
          </a:xfrm>
          <a:prstGeom prst="rect">
            <a:avLst/>
          </a:prstGeom>
        </p:spPr>
      </p:pic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111ADA42-AC38-2C0D-18AC-CF5BE636F183}"/>
              </a:ext>
            </a:extLst>
          </p:cNvPr>
          <p:cNvSpPr txBox="1">
            <a:spLocks/>
          </p:cNvSpPr>
          <p:nvPr/>
        </p:nvSpPr>
        <p:spPr>
          <a:xfrm>
            <a:off x="838200" y="1860794"/>
            <a:ext cx="572672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form downloads in PDF format</a:t>
            </a:r>
          </a:p>
          <a:p>
            <a:endParaRPr lang="en-US" dirty="0"/>
          </a:p>
          <a:p>
            <a:r>
              <a:rPr lang="en-US" dirty="0"/>
              <a:t>Simply upload this document into presently</a:t>
            </a:r>
          </a:p>
          <a:p>
            <a:endParaRPr lang="en-US" dirty="0"/>
          </a:p>
          <a:p>
            <a:r>
              <a:rPr lang="en-US" dirty="0"/>
              <a:t>This is the form filled by the parents themselves.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15E3799-B03A-9E93-7E15-91A3AAFDB14D}"/>
              </a:ext>
            </a:extLst>
          </p:cNvPr>
          <p:cNvCxnSpPr/>
          <p:nvPr/>
        </p:nvCxnSpPr>
        <p:spPr>
          <a:xfrm>
            <a:off x="8198738" y="2034072"/>
            <a:ext cx="1043354" cy="0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13824D5-C5E0-0FE2-962F-F0F757345AEF}"/>
              </a:ext>
            </a:extLst>
          </p:cNvPr>
          <p:cNvCxnSpPr/>
          <p:nvPr/>
        </p:nvCxnSpPr>
        <p:spPr>
          <a:xfrm>
            <a:off x="8198738" y="2770672"/>
            <a:ext cx="1043354" cy="0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826806E-9EE0-0857-3628-E6FDDD697A27}"/>
              </a:ext>
            </a:extLst>
          </p:cNvPr>
          <p:cNvCxnSpPr/>
          <p:nvPr/>
        </p:nvCxnSpPr>
        <p:spPr>
          <a:xfrm>
            <a:off x="8198738" y="3551722"/>
            <a:ext cx="1043354" cy="0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6879252-06F2-8F7A-814C-A85B309342F8}"/>
              </a:ext>
            </a:extLst>
          </p:cNvPr>
          <p:cNvCxnSpPr/>
          <p:nvPr/>
        </p:nvCxnSpPr>
        <p:spPr>
          <a:xfrm>
            <a:off x="8198738" y="3684165"/>
            <a:ext cx="1043354" cy="0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F97093A-8B93-1CB8-89A6-6CF9A1F69A42}"/>
              </a:ext>
            </a:extLst>
          </p:cNvPr>
          <p:cNvCxnSpPr/>
          <p:nvPr/>
        </p:nvCxnSpPr>
        <p:spPr>
          <a:xfrm>
            <a:off x="9849738" y="4449144"/>
            <a:ext cx="1043354" cy="0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CB51FF2-4161-8F3F-925F-E900318AA50E}"/>
              </a:ext>
            </a:extLst>
          </p:cNvPr>
          <p:cNvCxnSpPr/>
          <p:nvPr/>
        </p:nvCxnSpPr>
        <p:spPr>
          <a:xfrm>
            <a:off x="8198738" y="4447072"/>
            <a:ext cx="1043354" cy="0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C862791-104B-A4B4-4A5D-12133C53743D}"/>
              </a:ext>
            </a:extLst>
          </p:cNvPr>
          <p:cNvCxnSpPr/>
          <p:nvPr/>
        </p:nvCxnSpPr>
        <p:spPr>
          <a:xfrm>
            <a:off x="8198738" y="4789838"/>
            <a:ext cx="1043354" cy="0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6D2FD65-83D4-A6C6-B7AD-A77FA2B5B59C}"/>
              </a:ext>
            </a:extLst>
          </p:cNvPr>
          <p:cNvCxnSpPr/>
          <p:nvPr/>
        </p:nvCxnSpPr>
        <p:spPr>
          <a:xfrm>
            <a:off x="9849738" y="4777138"/>
            <a:ext cx="1043354" cy="0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02239A3-E445-B307-1D56-44C57227A46A}"/>
              </a:ext>
            </a:extLst>
          </p:cNvPr>
          <p:cNvCxnSpPr/>
          <p:nvPr/>
        </p:nvCxnSpPr>
        <p:spPr>
          <a:xfrm>
            <a:off x="8198738" y="5700614"/>
            <a:ext cx="1043354" cy="0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5B6A3719-0FE9-484D-DA0A-FBE3C3C4E773}"/>
              </a:ext>
            </a:extLst>
          </p:cNvPr>
          <p:cNvCxnSpPr/>
          <p:nvPr/>
        </p:nvCxnSpPr>
        <p:spPr>
          <a:xfrm>
            <a:off x="8198738" y="5573094"/>
            <a:ext cx="1043354" cy="0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F4D86E3-C8FB-60CA-9E08-F41C9390BE30}"/>
              </a:ext>
            </a:extLst>
          </p:cNvPr>
          <p:cNvCxnSpPr/>
          <p:nvPr/>
        </p:nvCxnSpPr>
        <p:spPr>
          <a:xfrm>
            <a:off x="9849738" y="5681564"/>
            <a:ext cx="1043354" cy="0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C05859A-1045-3217-58EF-82279F380C50}"/>
              </a:ext>
            </a:extLst>
          </p:cNvPr>
          <p:cNvCxnSpPr/>
          <p:nvPr/>
        </p:nvCxnSpPr>
        <p:spPr>
          <a:xfrm>
            <a:off x="9849738" y="5545488"/>
            <a:ext cx="1043354" cy="0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44F65F4-5576-2185-B613-969C5594AFDD}"/>
              </a:ext>
            </a:extLst>
          </p:cNvPr>
          <p:cNvCxnSpPr/>
          <p:nvPr/>
        </p:nvCxnSpPr>
        <p:spPr>
          <a:xfrm>
            <a:off x="9849738" y="5935044"/>
            <a:ext cx="1043354" cy="0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CCFC6AB-7CE7-035F-DBD6-97A43DA5E7EB}"/>
              </a:ext>
            </a:extLst>
          </p:cNvPr>
          <p:cNvCxnSpPr/>
          <p:nvPr/>
        </p:nvCxnSpPr>
        <p:spPr>
          <a:xfrm>
            <a:off x="8205088" y="5947744"/>
            <a:ext cx="1043354" cy="0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9F86FC-5BA1-ECD9-3B03-E593F1BE4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B9F03-84D4-4DB4-90BE-D5744455D77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535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C4AC2-47AC-5BD4-985A-49955941F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Locating the eEnrollment 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C802B-F164-F032-7251-B3F95752BB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find the e-enrollment form </a:t>
            </a:r>
          </a:p>
          <a:p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iKumon.com (Login)</a:t>
            </a:r>
          </a:p>
          <a:p>
            <a:r>
              <a:rPr lang="en-US" dirty="0">
                <a:sym typeface="Wingdings" panose="05000000000000000000" pitchFamily="2" charset="2"/>
              </a:rPr>
              <a:t>far right column click eEnrollment</a:t>
            </a: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(1)</a:t>
            </a:r>
            <a:r>
              <a:rPr lang="en-US" dirty="0">
                <a:sym typeface="Wingdings" panose="05000000000000000000" pitchFamily="2" charset="2"/>
              </a:rPr>
              <a:t> </a:t>
            </a:r>
          </a:p>
          <a:p>
            <a:r>
              <a:rPr lang="en-US" dirty="0">
                <a:sym typeface="Wingdings" panose="05000000000000000000" pitchFamily="2" charset="2"/>
              </a:rPr>
              <a:t>under View Notice to parents</a:t>
            </a: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(2)</a:t>
            </a:r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 click arrow with the envelope </a:t>
            </a:r>
          </a:p>
          <a:p>
            <a:r>
              <a:rPr lang="en-US" dirty="0">
                <a:sym typeface="Wingdings" panose="05000000000000000000" pitchFamily="2" charset="2"/>
              </a:rPr>
              <a:t> Download file for each new enrollee.</a:t>
            </a: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(3)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9D5FC7-ECE0-67F8-9269-2C9D6EB8EE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7988" y="797862"/>
            <a:ext cx="2559412" cy="3936311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1F8C69D-8DA0-4B52-FE4C-C71DC8AE3B91}"/>
              </a:ext>
            </a:extLst>
          </p:cNvPr>
          <p:cNvCxnSpPr>
            <a:cxnSpLocks/>
          </p:cNvCxnSpPr>
          <p:nvPr/>
        </p:nvCxnSpPr>
        <p:spPr>
          <a:xfrm flipH="1">
            <a:off x="9508729" y="2041068"/>
            <a:ext cx="1314781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ACEE547C-D1AB-377D-1DCF-3DF036FD14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5196859"/>
            <a:ext cx="7897327" cy="1390844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7432860-73AA-D64A-3498-1552929AA656}"/>
              </a:ext>
            </a:extLst>
          </p:cNvPr>
          <p:cNvCxnSpPr>
            <a:cxnSpLocks/>
          </p:cNvCxnSpPr>
          <p:nvPr/>
        </p:nvCxnSpPr>
        <p:spPr>
          <a:xfrm flipH="1" flipV="1">
            <a:off x="7216449" y="5663617"/>
            <a:ext cx="2160817" cy="8404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B07DB84-F2E1-D3E5-56C7-C1B5082E5950}"/>
              </a:ext>
            </a:extLst>
          </p:cNvPr>
          <p:cNvSpPr txBox="1"/>
          <p:nvPr/>
        </p:nvSpPr>
        <p:spPr>
          <a:xfrm>
            <a:off x="10842704" y="1841013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55479B-FE59-C401-295C-E0C34D4BF8CA}"/>
              </a:ext>
            </a:extLst>
          </p:cNvPr>
          <p:cNvSpPr txBox="1"/>
          <p:nvPr/>
        </p:nvSpPr>
        <p:spPr>
          <a:xfrm>
            <a:off x="9358863" y="5547602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3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3E7E7C6-40FE-BACC-55A4-6AAB3F3843F5}"/>
              </a:ext>
            </a:extLst>
          </p:cNvPr>
          <p:cNvCxnSpPr>
            <a:cxnSpLocks/>
            <a:stCxn id="19" idx="1"/>
          </p:cNvCxnSpPr>
          <p:nvPr/>
        </p:nvCxnSpPr>
        <p:spPr>
          <a:xfrm flipH="1">
            <a:off x="7198046" y="5747657"/>
            <a:ext cx="2160817" cy="19111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B76A16C-B182-82D3-3F89-8363FF6E04E2}"/>
              </a:ext>
            </a:extLst>
          </p:cNvPr>
          <p:cNvCxnSpPr>
            <a:cxnSpLocks/>
            <a:stCxn id="19" idx="1"/>
          </p:cNvCxnSpPr>
          <p:nvPr/>
        </p:nvCxnSpPr>
        <p:spPr>
          <a:xfrm flipH="1">
            <a:off x="7198045" y="5747657"/>
            <a:ext cx="2160818" cy="41787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C403F0E-46CA-406B-DA41-9BEEC159E9CB}"/>
              </a:ext>
            </a:extLst>
          </p:cNvPr>
          <p:cNvCxnSpPr>
            <a:cxnSpLocks/>
          </p:cNvCxnSpPr>
          <p:nvPr/>
        </p:nvCxnSpPr>
        <p:spPr>
          <a:xfrm>
            <a:off x="1611327" y="5644891"/>
            <a:ext cx="739988" cy="0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F613500-270F-3FE3-829C-F2193EE2BE81}"/>
              </a:ext>
            </a:extLst>
          </p:cNvPr>
          <p:cNvCxnSpPr>
            <a:cxnSpLocks/>
          </p:cNvCxnSpPr>
          <p:nvPr/>
        </p:nvCxnSpPr>
        <p:spPr>
          <a:xfrm>
            <a:off x="1530461" y="6196501"/>
            <a:ext cx="739988" cy="0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008B2AF-70C5-D650-0E90-24ED5AF5816B}"/>
              </a:ext>
            </a:extLst>
          </p:cNvPr>
          <p:cNvCxnSpPr>
            <a:cxnSpLocks/>
          </p:cNvCxnSpPr>
          <p:nvPr/>
        </p:nvCxnSpPr>
        <p:spPr>
          <a:xfrm>
            <a:off x="1682861" y="5944472"/>
            <a:ext cx="739988" cy="0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9FCB5A8-0097-84FA-6488-78C6BC002924}"/>
              </a:ext>
            </a:extLst>
          </p:cNvPr>
          <p:cNvCxnSpPr>
            <a:cxnSpLocks/>
          </p:cNvCxnSpPr>
          <p:nvPr/>
        </p:nvCxnSpPr>
        <p:spPr>
          <a:xfrm>
            <a:off x="3051354" y="5635560"/>
            <a:ext cx="522274" cy="0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0ECF71E-BDAC-A645-CD66-4B7AFDF32129}"/>
              </a:ext>
            </a:extLst>
          </p:cNvPr>
          <p:cNvCxnSpPr>
            <a:cxnSpLocks/>
          </p:cNvCxnSpPr>
          <p:nvPr/>
        </p:nvCxnSpPr>
        <p:spPr>
          <a:xfrm>
            <a:off x="2880535" y="5948104"/>
            <a:ext cx="522274" cy="0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8A30886-2A4D-3550-FD67-E70D289D1588}"/>
              </a:ext>
            </a:extLst>
          </p:cNvPr>
          <p:cNvCxnSpPr>
            <a:cxnSpLocks/>
          </p:cNvCxnSpPr>
          <p:nvPr/>
        </p:nvCxnSpPr>
        <p:spPr>
          <a:xfrm>
            <a:off x="3017384" y="6196501"/>
            <a:ext cx="649549" cy="0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B6EC4E-EF9A-C7D3-9410-BA2829CB7991}"/>
              </a:ext>
            </a:extLst>
          </p:cNvPr>
          <p:cNvCxnSpPr>
            <a:cxnSpLocks/>
          </p:cNvCxnSpPr>
          <p:nvPr/>
        </p:nvCxnSpPr>
        <p:spPr>
          <a:xfrm>
            <a:off x="2546429" y="6289809"/>
            <a:ext cx="649549" cy="0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A28267D-7445-84FC-C43A-6A978BF1F28A}"/>
              </a:ext>
            </a:extLst>
          </p:cNvPr>
          <p:cNvCxnSpPr>
            <a:cxnSpLocks/>
          </p:cNvCxnSpPr>
          <p:nvPr/>
        </p:nvCxnSpPr>
        <p:spPr>
          <a:xfrm flipH="1">
            <a:off x="7328674" y="5058549"/>
            <a:ext cx="378412" cy="28069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A13A9B17-A465-DC67-9887-F1A243772CFE}"/>
              </a:ext>
            </a:extLst>
          </p:cNvPr>
          <p:cNvSpPr txBox="1"/>
          <p:nvPr/>
        </p:nvSpPr>
        <p:spPr>
          <a:xfrm>
            <a:off x="7651361" y="4801781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5201B9-4BC8-ED65-A6E5-BD579D6CD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B9F03-84D4-4DB4-90BE-D5744455D77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824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FFAA4-89DB-B5A8-8944-149F3C62C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 Drop into Presently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76862A-6E40-D4C0-555C-2563BA18E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91313"/>
            <a:ext cx="9311808" cy="1237687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879C8F6-F1DE-D7C9-977D-D0A5B40D6694}"/>
              </a:ext>
            </a:extLst>
          </p:cNvPr>
          <p:cNvCxnSpPr>
            <a:cxnSpLocks/>
          </p:cNvCxnSpPr>
          <p:nvPr/>
        </p:nvCxnSpPr>
        <p:spPr>
          <a:xfrm flipH="1">
            <a:off x="9954512" y="2148221"/>
            <a:ext cx="797392" cy="30868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449FFB5-263C-B748-8F0C-550AA900CF6F}"/>
              </a:ext>
            </a:extLst>
          </p:cNvPr>
          <p:cNvSpPr txBox="1">
            <a:spLocks/>
          </p:cNvSpPr>
          <p:nvPr/>
        </p:nvSpPr>
        <p:spPr>
          <a:xfrm>
            <a:off x="838199" y="3659953"/>
            <a:ext cx="10209246" cy="1852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Click on Choose File </a:t>
            </a:r>
            <a:r>
              <a:rPr lang="en-US" b="1" dirty="0">
                <a:solidFill>
                  <a:srgbClr val="FF0000"/>
                </a:solidFill>
              </a:rPr>
              <a:t>(3) </a:t>
            </a:r>
            <a:r>
              <a:rPr lang="en-US" dirty="0"/>
              <a:t>and drop the eEnrollment form here. Click Add student </a:t>
            </a:r>
            <a:r>
              <a:rPr lang="en-US" b="1" dirty="0">
                <a:solidFill>
                  <a:srgbClr val="FF0000"/>
                </a:solidFill>
              </a:rPr>
              <a:t>(4)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ADDD4CA-9079-64DD-99EC-75B56E11F7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555" y="4609977"/>
            <a:ext cx="7641767" cy="1790699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8F264DC-D9AE-5457-A53E-0E4223CECAF0}"/>
              </a:ext>
            </a:extLst>
          </p:cNvPr>
          <p:cNvCxnSpPr>
            <a:cxnSpLocks/>
          </p:cNvCxnSpPr>
          <p:nvPr/>
        </p:nvCxnSpPr>
        <p:spPr>
          <a:xfrm flipH="1">
            <a:off x="3754612" y="5709648"/>
            <a:ext cx="770171" cy="178472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" name="Picture 29">
            <a:extLst>
              <a:ext uri="{FF2B5EF4-FFF2-40B4-BE49-F238E27FC236}">
                <a16:creationId xmlns:a16="http://schemas.microsoft.com/office/drawing/2014/main" id="{71DC36C0-EDD3-5ACC-E591-5CB4714354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5186" y="6278658"/>
            <a:ext cx="1252058" cy="394265"/>
          </a:xfrm>
          <a:prstGeom prst="rect">
            <a:avLst/>
          </a:prstGeom>
        </p:spPr>
      </p:pic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0D99738-5FF9-ED27-E6A8-BF856DAB6901}"/>
              </a:ext>
            </a:extLst>
          </p:cNvPr>
          <p:cNvCxnSpPr>
            <a:cxnSpLocks/>
          </p:cNvCxnSpPr>
          <p:nvPr/>
        </p:nvCxnSpPr>
        <p:spPr>
          <a:xfrm flipH="1">
            <a:off x="7579391" y="6200621"/>
            <a:ext cx="797392" cy="30868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7EF7912-D6C6-748D-123A-891960DF9AF4}"/>
              </a:ext>
            </a:extLst>
          </p:cNvPr>
          <p:cNvCxnSpPr>
            <a:cxnSpLocks/>
          </p:cNvCxnSpPr>
          <p:nvPr/>
        </p:nvCxnSpPr>
        <p:spPr>
          <a:xfrm flipH="1">
            <a:off x="1820162" y="2976152"/>
            <a:ext cx="797392" cy="30868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16394-4078-9943-0694-563B6F14E7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32347"/>
            <a:ext cx="10458061" cy="702819"/>
          </a:xfrm>
        </p:spPr>
        <p:txBody>
          <a:bodyPr/>
          <a:lstStyle/>
          <a:p>
            <a:r>
              <a:rPr lang="en-US" dirty="0"/>
              <a:t>In Students tab</a:t>
            </a:r>
            <a:r>
              <a:rPr lang="en-US" b="1" dirty="0">
                <a:solidFill>
                  <a:srgbClr val="FF0000"/>
                </a:solidFill>
              </a:rPr>
              <a:t>(1)</a:t>
            </a:r>
            <a:r>
              <a:rPr lang="en-US" dirty="0"/>
              <a:t> click add student (top right)</a:t>
            </a:r>
            <a:r>
              <a:rPr lang="en-US" b="1" dirty="0">
                <a:solidFill>
                  <a:srgbClr val="FF0000"/>
                </a:solidFill>
              </a:rPr>
              <a:t>(2)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7A5457-74FB-20B1-E7AF-8E1DFF584E5B}"/>
              </a:ext>
            </a:extLst>
          </p:cNvPr>
          <p:cNvSpPr txBox="1"/>
          <p:nvPr/>
        </p:nvSpPr>
        <p:spPr>
          <a:xfrm>
            <a:off x="2552240" y="2730383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135397-6C34-1D82-8173-498FC566F0ED}"/>
              </a:ext>
            </a:extLst>
          </p:cNvPr>
          <p:cNvSpPr txBox="1"/>
          <p:nvPr/>
        </p:nvSpPr>
        <p:spPr>
          <a:xfrm>
            <a:off x="10747556" y="1874488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F96B4A-EDAC-8907-BCF5-481401496435}"/>
              </a:ext>
            </a:extLst>
          </p:cNvPr>
          <p:cNvSpPr txBox="1"/>
          <p:nvPr/>
        </p:nvSpPr>
        <p:spPr>
          <a:xfrm>
            <a:off x="4508238" y="548801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01300DB-F6BB-278A-4D9A-AB9359EC7F1A}"/>
              </a:ext>
            </a:extLst>
          </p:cNvPr>
          <p:cNvSpPr txBox="1"/>
          <p:nvPr/>
        </p:nvSpPr>
        <p:spPr>
          <a:xfrm>
            <a:off x="8318929" y="5963242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FE0968-B8C2-DA1E-4D1F-9B07E9E76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B9F03-84D4-4DB4-90BE-D5744455D77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822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227</Words>
  <Application>Microsoft Office PowerPoint</Application>
  <PresentationFormat>Widescreen</PresentationFormat>
  <Paragraphs>39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Wingdings</vt:lpstr>
      <vt:lpstr>Office Theme</vt:lpstr>
      <vt:lpstr>Monthly Uploading</vt:lpstr>
      <vt:lpstr>Background</vt:lpstr>
      <vt:lpstr>The eEnrollment document</vt:lpstr>
      <vt:lpstr>Locating the eEnrollment form</vt:lpstr>
      <vt:lpstr>Document Drop into Presently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Reeyesh Patel</dc:creator>
  <cp:lastModifiedBy>Reeyesh Patel</cp:lastModifiedBy>
  <cp:revision>4</cp:revision>
  <dcterms:created xsi:type="dcterms:W3CDTF">2026-10-02T01:57:21Z</dcterms:created>
  <dcterms:modified xsi:type="dcterms:W3CDTF">2026-10-02T06:49:00Z</dcterms:modified>
</cp:coreProperties>
</file>